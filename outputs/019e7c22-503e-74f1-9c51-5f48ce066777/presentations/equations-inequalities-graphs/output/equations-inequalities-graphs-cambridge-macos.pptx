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8e566f0eea4db7" /><Relationship Type="http://schemas.openxmlformats.org/officeDocument/2006/relationships/extended-properties" Target="/docProps/app.xml" Id="R89ae824796fd424c" /><Relationship Type="http://schemas.openxmlformats.org/officeDocument/2006/relationships/officeDocument" Target="/ppt/presentation.xml" Id="Rbc9908aba84744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924dac475748b6"/>
  </p:sldMasterIdLst>
  <p:notesMasterIdLst>
    <p:notesMasterId xmlns:r="http://schemas.openxmlformats.org/officeDocument/2006/relationships" r:id="R356547fd65e44730"/>
  </p:notesMasterIdLst>
  <p:sldIdLst>
    <p:sldId xmlns:r="http://schemas.openxmlformats.org/officeDocument/2006/relationships" id="256" r:id="R13eba30edcef4989"/>
    <p:sldId xmlns:r="http://schemas.openxmlformats.org/officeDocument/2006/relationships" id="257" r:id="R5a9cf97319014a25"/>
    <p:sldId xmlns:r="http://schemas.openxmlformats.org/officeDocument/2006/relationships" id="258" r:id="R3cbbc16dd75c48a9"/>
    <p:sldId xmlns:r="http://schemas.openxmlformats.org/officeDocument/2006/relationships" id="259" r:id="R311f5cd24bc34251"/>
    <p:sldId xmlns:r="http://schemas.openxmlformats.org/officeDocument/2006/relationships" id="260" r:id="R998a64a5a2cb42e0"/>
    <p:sldId xmlns:r="http://schemas.openxmlformats.org/officeDocument/2006/relationships" id="261" r:id="R967919b1ea024c0b"/>
    <p:sldId xmlns:r="http://schemas.openxmlformats.org/officeDocument/2006/relationships" id="262" r:id="Rd402c53ac05643aa"/>
    <p:sldId xmlns:r="http://schemas.openxmlformats.org/officeDocument/2006/relationships" id="263" r:id="Rba5313b07eb74185"/>
    <p:sldId xmlns:r="http://schemas.openxmlformats.org/officeDocument/2006/relationships" id="264" r:id="Rbfe10935ada8420f"/>
    <p:sldId xmlns:r="http://schemas.openxmlformats.org/officeDocument/2006/relationships" id="265" r:id="Rc9f3e3d61b834d98"/>
    <p:sldId xmlns:r="http://schemas.openxmlformats.org/officeDocument/2006/relationships" id="266" r:id="R851c955df48d4708"/>
    <p:sldId xmlns:r="http://schemas.openxmlformats.org/officeDocument/2006/relationships" id="267" r:id="R8c08d6e00e1b483d"/>
    <p:sldId xmlns:r="http://schemas.openxmlformats.org/officeDocument/2006/relationships" id="268" r:id="R6e485211270840a9"/>
    <p:sldId xmlns:r="http://schemas.openxmlformats.org/officeDocument/2006/relationships" id="269" r:id="Rab5bb3075f5d4a2e"/>
    <p:sldId xmlns:r="http://schemas.openxmlformats.org/officeDocument/2006/relationships" id="270" r:id="R0fa2b4cf232a48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24dac475748b6" /><Relationship Type="http://schemas.openxmlformats.org/officeDocument/2006/relationships/theme" Target="/ppt/theme/theme1.xml" Id="R8778392ecb7b4681" /><Relationship Type="http://schemas.openxmlformats.org/officeDocument/2006/relationships/notesMaster" Target="/ppt/notesMasters/notesMaster1.xml" Id="R356547fd65e44730" /><Relationship Type="http://schemas.openxmlformats.org/officeDocument/2006/relationships/presProps" Target="/ppt/presProps.xml" Id="Rcb385445a0b945b7" /><Relationship Type="http://schemas.openxmlformats.org/officeDocument/2006/relationships/viewProps" Target="/ppt/viewProps.xml" Id="R691944d2cdb749b0" /><Relationship Type="http://schemas.openxmlformats.org/officeDocument/2006/relationships/tableStyles" Target="/ppt/tableStyles.xml" Id="R11e81d7cc7e84354" /><Relationship Type="http://schemas.openxmlformats.org/officeDocument/2006/relationships/slide" Target="/ppt/slides/slide1.xml" Id="R13eba30edcef4989" /><Relationship Type="http://schemas.openxmlformats.org/officeDocument/2006/relationships/slide" Target="/ppt/slides/slide2.xml" Id="R5a9cf97319014a25" /><Relationship Type="http://schemas.openxmlformats.org/officeDocument/2006/relationships/slide" Target="/ppt/slides/slide3.xml" Id="R3cbbc16dd75c48a9" /><Relationship Type="http://schemas.openxmlformats.org/officeDocument/2006/relationships/slide" Target="/ppt/slides/slide4.xml" Id="R311f5cd24bc34251" /><Relationship Type="http://schemas.openxmlformats.org/officeDocument/2006/relationships/slide" Target="/ppt/slides/slide5.xml" Id="R998a64a5a2cb42e0" /><Relationship Type="http://schemas.openxmlformats.org/officeDocument/2006/relationships/slide" Target="/ppt/slides/slide6.xml" Id="R967919b1ea024c0b" /><Relationship Type="http://schemas.openxmlformats.org/officeDocument/2006/relationships/slide" Target="/ppt/slides/slide7.xml" Id="Rd402c53ac05643aa" /><Relationship Type="http://schemas.openxmlformats.org/officeDocument/2006/relationships/slide" Target="/ppt/slides/slide8.xml" Id="Rba5313b07eb74185" /><Relationship Type="http://schemas.openxmlformats.org/officeDocument/2006/relationships/slide" Target="/ppt/slides/slide9.xml" Id="Rbfe10935ada8420f" /><Relationship Type="http://schemas.openxmlformats.org/officeDocument/2006/relationships/slide" Target="/ppt/slides/slide10.xml" Id="Rc9f3e3d61b834d98" /><Relationship Type="http://schemas.openxmlformats.org/officeDocument/2006/relationships/slide" Target="/ppt/slides/slide11.xml" Id="R851c955df48d4708" /><Relationship Type="http://schemas.openxmlformats.org/officeDocument/2006/relationships/slide" Target="/ppt/slides/slide12.xml" Id="R8c08d6e00e1b483d" /><Relationship Type="http://schemas.openxmlformats.org/officeDocument/2006/relationships/slide" Target="/ppt/slides/slide13.xml" Id="R6e485211270840a9" /><Relationship Type="http://schemas.openxmlformats.org/officeDocument/2006/relationships/slide" Target="/ppt/slides/slide14.xml" Id="Rab5bb3075f5d4a2e" /><Relationship Type="http://schemas.openxmlformats.org/officeDocument/2006/relationships/slide" Target="/ppt/slides/slide15.xml" Id="R0fa2b4cf232a48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bfdc4f125c44c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7573904eaf460f" /><Relationship Type="http://schemas.openxmlformats.org/officeDocument/2006/relationships/notesMaster" Target="/ppt/notesMasters/notesMaster1.xml" Id="Rfb799343af3c4f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e23285dc7e4f4f" /><Relationship Type="http://schemas.openxmlformats.org/officeDocument/2006/relationships/notesMaster" Target="/ppt/notesMasters/notesMaster1.xml" Id="R9d00aef00ade49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d3dd5e07024338" /><Relationship Type="http://schemas.openxmlformats.org/officeDocument/2006/relationships/notesMaster" Target="/ppt/notesMasters/notesMaster1.xml" Id="R97934630880b41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61890b8b134849" /><Relationship Type="http://schemas.openxmlformats.org/officeDocument/2006/relationships/notesMaster" Target="/ppt/notesMasters/notesMaster1.xml" Id="R4f45ba30aedb45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f7726d8cba4a9a" /><Relationship Type="http://schemas.openxmlformats.org/officeDocument/2006/relationships/notesMaster" Target="/ppt/notesMasters/notesMaster1.xml" Id="R2dcaa773c05346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f7a839859e436a" /><Relationship Type="http://schemas.openxmlformats.org/officeDocument/2006/relationships/notesMaster" Target="/ppt/notesMasters/notesMaster1.xml" Id="Rb1509a1db13445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39c4cb5b2d4dca" /><Relationship Type="http://schemas.openxmlformats.org/officeDocument/2006/relationships/notesMaster" Target="/ppt/notesMasters/notesMaster1.xml" Id="Rba13d9fa78b044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18c7d027c24bb4" /><Relationship Type="http://schemas.openxmlformats.org/officeDocument/2006/relationships/notesMaster" Target="/ppt/notesMasters/notesMaster1.xml" Id="Rf08615c152ab49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8219b1a6f3416b" /><Relationship Type="http://schemas.openxmlformats.org/officeDocument/2006/relationships/notesMaster" Target="/ppt/notesMasters/notesMaster1.xml" Id="Rd1ac470486c34d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95045e9d3640d6" /><Relationship Type="http://schemas.openxmlformats.org/officeDocument/2006/relationships/notesMaster" Target="/ppt/notesMasters/notesMaster1.xml" Id="R7214aebb94bf4e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0313192ee14c75" /><Relationship Type="http://schemas.openxmlformats.org/officeDocument/2006/relationships/notesMaster" Target="/ppt/notesMasters/notesMaster1.xml" Id="R42c29055179848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5e017644ef4456" /><Relationship Type="http://schemas.openxmlformats.org/officeDocument/2006/relationships/notesMaster" Target="/ppt/notesMasters/notesMaster1.xml" Id="Rd669af608bae47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bddd0957c04c42" /><Relationship Type="http://schemas.openxmlformats.org/officeDocument/2006/relationships/notesMaster" Target="/ppt/notesMasters/notesMaster1.xml" Id="Rcb5a3406ad1b48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0f4634e0f54d70" /><Relationship Type="http://schemas.openxmlformats.org/officeDocument/2006/relationships/notesMaster" Target="/ppt/notesMasters/notesMaster1.xml" Id="R01681a332a1b45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8b687ae3f3476d" /><Relationship Type="http://schemas.openxmlformats.org/officeDocument/2006/relationships/notesMaster" Target="/ppt/notesMasters/notesMaster1.xml" Id="R2ddd18b3c16047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f6ca53aae4be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dd1e85a3fff45e9" /><Relationship Type="http://schemas.openxmlformats.org/officeDocument/2006/relationships/slideLayout" Target="/ppt/slideLayouts/slideLayout2.xml" Id="Rdf02319b303449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02319b303449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6d0241229a4203" /><Relationship Type="http://schemas.openxmlformats.org/officeDocument/2006/relationships/notesSlide" Target="/ppt/notesSlides/notesSlide1.xml" Id="R5ba850d1222c45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aa735186fd40a5" /><Relationship Type="http://schemas.openxmlformats.org/officeDocument/2006/relationships/notesSlide" Target="/ppt/notesSlides/notesSlide2.xml" Id="R219970bec8ab4d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ad9a495d3b446b" /><Relationship Type="http://schemas.openxmlformats.org/officeDocument/2006/relationships/notesSlide" Target="/ppt/notesSlides/notesSlide3.xml" Id="R0bf4f26c609d4d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bb089e74664d71" /><Relationship Type="http://schemas.openxmlformats.org/officeDocument/2006/relationships/notesSlide" Target="/ppt/notesSlides/notesSlide4.xml" Id="Rd165557d7c024a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d9289a92db450b" /><Relationship Type="http://schemas.openxmlformats.org/officeDocument/2006/relationships/notesSlide" Target="/ppt/notesSlides/notesSlide5.xml" Id="R44e27de7685d40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285b46542e44d5" /><Relationship Type="http://schemas.openxmlformats.org/officeDocument/2006/relationships/notesSlide" Target="/ppt/notesSlides/notesSlide6.xml" Id="R1fdc6d2b5f2249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681788db144dd4" /><Relationship Type="http://schemas.openxmlformats.org/officeDocument/2006/relationships/notesSlide" Target="/ppt/notesSlides/notesSlide7.xml" Id="Re8fe9188469a4c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86193369634acc" /><Relationship Type="http://schemas.openxmlformats.org/officeDocument/2006/relationships/image" Target="/ppt/media/image.png" Id="R903dace659c44da8" /><Relationship Type="http://schemas.openxmlformats.org/officeDocument/2006/relationships/image" Target="/ppt/media/image.svg" Id="R3a93703d6544475c" /><Relationship Type="http://schemas.openxmlformats.org/officeDocument/2006/relationships/notesSlide" Target="/ppt/notesSlides/notesSlide8.xml" Id="Rd607d7cacd3d4f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db3b5fbdcd426a" /><Relationship Type="http://schemas.openxmlformats.org/officeDocument/2006/relationships/notesSlide" Target="/ppt/notesSlides/notesSlide9.xml" Id="R65a867bdab894a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bf480b97c04eec" /><Relationship Type="http://schemas.openxmlformats.org/officeDocument/2006/relationships/notesSlide" Target="/ppt/notesSlides/notesSlide10.xml" Id="Rb6175130463a43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8b91b5b8584423" /><Relationship Type="http://schemas.openxmlformats.org/officeDocument/2006/relationships/image" Target="/ppt/media/image2.png" Id="R690e0c6abd154e15" /><Relationship Type="http://schemas.openxmlformats.org/officeDocument/2006/relationships/image" Target="/ppt/media/image2.svg" Id="R275194db36854a78" /><Relationship Type="http://schemas.openxmlformats.org/officeDocument/2006/relationships/notesSlide" Target="/ppt/notesSlides/notesSlide11.xml" Id="R16fff2d6922646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eba0a394f94864" /><Relationship Type="http://schemas.openxmlformats.org/officeDocument/2006/relationships/notesSlide" Target="/ppt/notesSlides/notesSlide12.xml" Id="R2ce6dd46c49442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dd0dc67d734f1d" /><Relationship Type="http://schemas.openxmlformats.org/officeDocument/2006/relationships/notesSlide" Target="/ppt/notesSlides/notesSlide13.xml" Id="Rfd6a47d31e5e4e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ecaaac6a6e4304" /><Relationship Type="http://schemas.openxmlformats.org/officeDocument/2006/relationships/notesSlide" Target="/ppt/notesSlides/notesSlide14.xml" Id="R3d4ff6770c5442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1fe8d90ea449dd" /><Relationship Type="http://schemas.openxmlformats.org/officeDocument/2006/relationships/notesSlide" Target="/ppt/notesSlides/notesSlide15.xml" Id="R62bba3aa9d344f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C5C2AB-E263-412A-8B1B-92768C4A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E983F-DF69-4E2B-87CC-EB470DCA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2B6E7-25E5-4BF9-904F-0ADA7AA2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21589-43A1-4DDF-B659-00B2985B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BECFB-9ACE-419B-8CAD-FC2EF6F0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Equations, Inequalities and Graphs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A67C9-F463-4E16-BF6D-0EE972BA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 · 2028-2030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F1618-6C24-4DD3-9A8A-6E767583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6CBB4-5E5C-4549-AFA3-9CC3F564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Learning goals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9162C-82FA-4BB1-8BB7-1E32AB57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28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Solve equations involving absolute value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Solve absolute value inequalities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Use substitution to solve related equations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Sketch cubic graphs from three linear factors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Solve cubic inequalities from a graph or algebraically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F80D2-2D76-40D6-BD88-2E77CC6A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04604-349B-4C4F-9FE3-E4AD8E57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Success criteria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79BDF-D20E-4695-815F-EAA83AA1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286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 can split an absolute value equation into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 can choose a useful substitution.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 can identify x-intercepts and turning behaviour.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 can read inequality solutions from graphs.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497B9-AEE1-4AFA-A0A8-92FC4FA2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43500"/>
            <a:ext cx="8229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2855B-0C56-4FBE-B025-167E472E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86375"/>
            <a:ext cx="7886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Lesson focus: connect algebraic method with graph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2738C-BFDB-4F21-BEF6-69587396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33450"/>
            <a:ext cx="304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1BFC9-9AA9-41F9-87D6-4F0619AD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66800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Teacher note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B1DBC-6082-40DD-BE30-60EFCF26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95400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Keep returning to the link between a symbolic answer and what it means on a graph.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F518B-1CD9-4392-924E-ED0BCA8D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71762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FB3A5D-A9A7-4D7B-A990-6D04369A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A1DB1-0193-44C8-8178-1B4EB05B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ED90D-27BF-42E8-B35D-8F14159E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6591E-9FF3-48FA-BF7B-F6C827F4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ED4FB-A0E6-4415-8E76-54CB7F46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Starter: Quick Recall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D7714-E870-47F9-BCC8-A6F5EEF2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A1E2B-D405-443A-8A16-FDB631A5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Warm-up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0269B-0962-4949-8C7B-5046451C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8768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B5586-6923-45CA-8D07-A79B23C9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AA620-7F18-4312-BCAC-50DEAED4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 What does |x| mean?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 When is |x| = 5?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3. When is |x| = 0?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4. What is the graph of y = |x| shaped like?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5. What happens when we draw y = |f(x)|?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5E246-DF60-4B20-AFC8-BD95E099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48768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7E165-93E5-4334-BE04-D59C8DAB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DF412-99F5-4B07-9281-6B9D0FF4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000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 Distance from 0; always non-negative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 x = 5 or x = -5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3. x = 0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4. A V-shape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5. Negative parts reflect above the x-axis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7B7A9-F2E7-462A-B2A0-EF638BDD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Use mini whiteboards for fast confidence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A5D63-FF2A-47B8-A355-D41B039F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43793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8E1330-9F5C-4DDB-AD25-862A28A5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47A09-FBC6-43C6-B796-78232228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58C81-0D81-464F-9304-3E04E80A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639ED-C08E-4DFC-A538-B62D423B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02B08-CACD-410F-8166-B60AD954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Absolute Value Equations: Core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F778E-1832-4E9B-87D6-93368843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C20B9-1AE8-4D34-893E-CF1D18CA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00A0C-A8D3-41E1-BDB9-AFB80A31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05000"/>
            <a:ext cx="971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ACD55-AC4B-4FD9-B28D-E9EA09FF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47875"/>
            <a:ext cx="937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For c ≥ 0:</a:t>
            </a:r>
          </a:p>
          <a:p xmlns:a="http://schemas.openxmlformats.org/drawingml/2006/main">
            <a:pPr algn="ctr">
              <a:defRPr sz="23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|A| = c  ⇒  A = c  or  A = -c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0260A-166C-46AF-B397-2497F647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9530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A7EE4-83E5-4E93-911C-0A18F17D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Example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79CC3-6ABE-4E06-A2FD-EB99C7B1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4000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0BEEC-E45C-4C67-9DAB-14EA0F53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|2x - 3| = 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160E9-8E30-45D1-BDD0-20A06FFF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48768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020D2-7087-4569-A61D-BC204286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Two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33B7C-971D-4705-A79C-A6FBD852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2x - 3 = 7  ⇒  x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2x - 3 = -7  ⇒  x = -2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06828-4BD6-43BA-8AFE-799F17C2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76900"/>
            <a:ext cx="4572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BFC8D-895F-4FD0-8DB2-F4EDCBF1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819775"/>
            <a:ext cx="422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x = -2,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C949B-06B7-4221-B5A4-02C15528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52500"/>
            <a:ext cx="2952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1C5D9-E5E3-4D20-BAB3-5556EB4B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858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Teacher note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563E8-51D9-4635-91FB-CC871DBE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why there are two answers: absolute value means distance.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579940-BBB5-43D2-A190-1A86D493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470322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3D4CE8-E4F1-49AE-B535-A6167DEC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51DEF-3FC7-4290-954A-85A40A2D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1EAAB-9186-4DE5-9F97-E9579DBF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E8325-282D-40BB-9E85-1E10E7BC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A0567-E96D-43BB-9FB5-13DB0D6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Variables on Both Sides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38629-1807-48B2-8065-8BCDA861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B7043-31EC-4663-8F1E-7AD42C2C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Check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11868-75D0-4A88-A876-AA9767AE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95450"/>
            <a:ext cx="533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FBC5A-E393-4332-9FB6-8A4BEC53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38325"/>
            <a:ext cx="499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|3x + 1| = 2x + 7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A1E6C-FF37-40F5-A43B-E16B15AB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EA6EA-8A1F-41B8-B063-0213B521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1. RHS must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A4C3C-D92C-4175-BF3F-7F888E84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2x + 7 ≥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This matters because |A| can never be negative.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B776B-DC4D-45F8-ADFF-27555DC8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B41E2-E9C1-4A06-A386-08714E7A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62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2. Split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19EC1-A938-4BE8-860C-A4E2E91D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3855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3x + 1 = 2x + 7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⇒ x =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3x + 1 = -(2x + 7)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⇒ 5x = -8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⇒ x = -8/5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D93AA-DA3C-48FD-8635-DCED63CD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99F19-6732-4FF4-9ED0-CB4EB948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3.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C8BF6-D597-4635-84AF-FA28B1F2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Both values make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2x + 7 ≥ 0,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 both are valid.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4419D-B0D8-4DDF-9A06-3D92374B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57850"/>
            <a:ext cx="4572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A0A4D2-5B89-4BE9-975B-B332A518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800725"/>
            <a:ext cx="422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x = 6,  -8/5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2C193A-154B-44FE-9E38-2536D54D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874789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35D076-4463-486B-8D34-3A7C84B8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A1AAB-FF54-4D02-AD0B-7CDE6DF4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5B22E-6EC2-4EFC-8D87-7A4A19BF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02A41-9598-48D1-98CB-500E46A1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A357D-8BCD-42B3-B6B8-FA6610E4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Absolute Value Equals Absolute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0CE6A-B4D0-4013-9381-C06195E7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37B81-121E-47B4-B1ED-35BDF006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Shortcut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800B9-161E-4D67-99A2-2AF54417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95450"/>
            <a:ext cx="533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38FC9-CA29-4B09-8FCA-E29ABF32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38325"/>
            <a:ext cx="499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|x - 4| = |2x + 1|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2CF65-7279-4805-975C-1710C913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572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38A3E-F893-4759-AC03-40DCFCEA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Same 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6A4D5-BCBB-446F-BE53-887810F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67125"/>
            <a:ext cx="3619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 - 4 = 2x + 1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⇒ x = -5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F0773-F5BE-4B13-948E-84FF6628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572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DFCD6-CB23-465D-AD8F-8744683A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Opposite 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8EF94-77BE-4EAE-A0BD-7E2E30AE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67125"/>
            <a:ext cx="361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 - 4 = -(2x + 1)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⇒ 3x = 3</a:t>
            </a:r>
          </a:p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⇒ x =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2E222-03F8-4FDC-AA19-411D348D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57850"/>
            <a:ext cx="4572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04900-748D-4DE0-9478-ABDF00E6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800725"/>
            <a:ext cx="422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x = -5,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E27F1-E7C9-433E-9065-A08F4682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19700"/>
            <a:ext cx="746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Equal absolute values usually mean same sign or opposite sign.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45A15-F486-42BA-9272-B2DAC78E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26780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43CAAD-6D5A-4B3D-93F2-F4F53922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B1072-E9BE-472E-81D9-5C6C11FD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BD30E-6A81-4043-8DCD-A636462D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95EEB-2D57-42D4-A4E8-3FA611E5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27300-6D1C-4866-AF7A-1A0E0BA1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Practice 1: Guided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FA5E9-3278-42A2-B1F0-A178FC45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4D613-AC09-4308-83F9-A26A249C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Pair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8046B-60B7-4C19-852A-E7A6F962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714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E5362-46BD-44BE-829E-709F53D2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Try these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06D26-9799-420E-971E-2E1B6EEA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 |x + 6|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 |5x - 2| = 3x + 4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3. |x - 1| = |x + 5|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0845B-73F1-42C0-8750-512F7AA3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62150"/>
            <a:ext cx="6477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03670-1E49-4976-B7B3-A6878225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552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2E614-D06B-4980-8619-A3B722A2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5429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 x = -2, -10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 x = 3, -1/4  (both valid after checking)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3. x = -2  (the same-sign case is impossible)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6719B-608C-429E-BA60-54771EA4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81650"/>
            <a:ext cx="7810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14B0F-1BE7-442D-8BF1-181F82FE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24525"/>
            <a:ext cx="7467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Exam habit: show checks when variables appear outside modulus bars.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AA0BC-EECE-458E-A004-1C275569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10583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FF4294-1197-42CE-BB65-7AAFE276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DCBCA-F9A9-4DA1-AC83-4204125E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F5FFC-2B91-4627-9AAC-89AF339A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DBE41-2C58-4D43-AE78-C4E76D40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B7BDF-6FA6-4C0D-9DBE-E230473E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Absolute Value Inequalities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90CA3-D88D-45BA-8E89-697E1E82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E9F42-E992-410E-B843-57A0B398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Inside vs outside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977BB-F75F-4F78-869A-AFB62768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59A44-39ED-45D4-B81A-C4F5EBB1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Main ideas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E6053-7303-4F30-A869-9493E403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400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|A| &lt; c  means  -c &lt; A &lt;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|A| ≤ c  means  -c ≤ A ≤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|A| &gt; c  means  A &gt; c or A &lt; -c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|A| ≥ c  means  A ≥ c or A ≤ -c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71869-ECF6-432B-BC44-CB99CBFB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D93C7-23D9-41E5-80B3-42CBE3DE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Example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DEC62-6E2A-4DCA-9195-6FFD8039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400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473A6-4174-4910-B7CF-35DFE911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95575"/>
            <a:ext cx="3657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|2x - 1| ≤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8932A-D953-43C1-98E6-C7CDB268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371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-5 ≤ 2x - 1 ≤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-4 ≤ 2x ≤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-2 ≤ x ≤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24595-6989-4B7D-ACDE-88698B65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19750"/>
            <a:ext cx="4572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E09CE-BAD9-4B8C-8305-CF309452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62625"/>
            <a:ext cx="422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-2 ≤ x ≤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17D70-D58F-4966-A2A3-569CD1EE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707205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7385FA-48C6-48CC-96D3-E2FA8F2C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DDC36-DFE4-403D-9718-445F3975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11255-7173-4E0E-BAF3-076EA3F2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7120B-C75D-41B1-A923-960F9099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70278-30F3-4D00-B880-68A03DE9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Absolute Value Inequalities with Graphs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36AEA-F62B-4699-918C-443D82E0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664CA-B0C6-413C-ADA6-3E9A0783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Read the regions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20C42-0E5D-407D-B228-4E330DE4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476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E47A9-BA6C-455F-84C0-5F27F1A6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Example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F901F-37BB-4C1E-89CD-5DF11C6D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3714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9924A-A3F3-4C3A-B682-340094F7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14625"/>
            <a:ext cx="3371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|x - 2| &gt;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02C10-6A08-49D2-AB35-CD718E72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3619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Algebraic method: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 - 2 &gt; 3  or  x - 2 &lt; 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 &gt; 5  or  x &lt; -1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dace659c44da8">
            <a:extLst>
              <a:ext uri="{96DAC541-7B7A-43D3-8B79-37D633B846F1}">
                <asvg:svgBlip xmlns:asvg="http://schemas.microsoft.com/office/drawing/2016/SVG/main" r:embed="R3a93703d654447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53100" y="1847850"/>
            <a:ext cx="5334000" cy="33147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15649-72F8-4E13-A91D-B4CB4810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76900"/>
            <a:ext cx="4572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48A45-9760-44DF-A71D-409998C3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819775"/>
            <a:ext cx="422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x &lt; -1  or  x &gt;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C1DE0-09CE-4799-9128-E1AE80B1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578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Graph idea: choose the outside regions above y = 3.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8FC11-9A63-464B-AFBB-6061E0F8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887425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9BB294-0D67-409F-B8AF-7A0B717A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B3FB4-184B-4C1F-93FE-09781685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C4A02-DD07-4C38-B67A-85420664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F22AF-8E2A-401B-BC1D-DB28400E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0230E-C97B-4D95-9FF7-6C5CADF8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Substitution into Related Equations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9B82D-C23E-42B3-B7F9-B2809F06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641B2-EB2A-464C-897B-BFBB0EA0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Pattern spotting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8C8D9-BF7C-4972-A27D-E5612034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95450"/>
            <a:ext cx="876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8DA4B-DBA9-4636-98DF-E999671A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38325"/>
            <a:ext cx="8420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(x² - 5x)² - 6(x² - 5x) - 16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B4FE0-B2FC-4296-9963-88CEF734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495FD-D326-4C7C-8179-0DF0C44D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1. Substitute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A2C76-3537-4FD5-AE00-1F26171E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Let u = x² - 5x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Then: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u² - 6u - 16 =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427FE-EFF7-44FB-BCA8-5B983B06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3CE2F-58C7-4863-8A8C-F09EDE9C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62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2. Solve 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76582-889A-464F-84D7-1AFFAD7B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338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(u - 8)(u + 2)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 = 8 or u = -2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32465-418E-439F-BAF7-00AB210E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B4D19-E806-4C56-A6E7-FA537F99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3. Substitute 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843CC-A414-4BD2-B56D-CD426E31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x² - 5x = 8</a:t>
            </a:r>
          </a:p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</a:t>
            </a:r>
          </a:p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x² - 5x = -2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C05FC-BEDB-490A-A6A7-282C1762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57850"/>
            <a:ext cx="6362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E784E-E797-4E05-9BE2-7C445869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800725"/>
            <a:ext cx="601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x = (5 ± √57)/2,  (5 ± √17)/2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D5A2BE-3A7C-4EA8-B6A8-8419229F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959946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A54C84-102E-46E2-892E-36358CDE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8846E-E9A3-4CB4-A1E5-329020D0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27A40-B67E-4BEA-92D0-9A25C7DD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206DB-37F9-44FF-850B-82012382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30E8E-4A55-4873-8382-ED6A44B1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Cleaner Exam-Style Substitution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B2F71-83EC-44A1-B1BF-31A2B51F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6DCB1-D6B4-4F4B-934E-4CC69B0B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Exponential 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193AC-B221-4E16-8F16-FE933DA5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95450"/>
            <a:ext cx="4762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111DE-EEE1-43F2-B1B5-F8525768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38325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e²ˣ - 7eˣ + 10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E80E9-FDE2-4545-BC0D-9E5E8AF0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28575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2F0EA-CED8-4236-9B1D-BC441CE8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19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1. Let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80084-3A39-4B2E-8C5E-6039173C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 = eˣ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u² - 7u + 10 =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9323F-4B0E-4E4F-9151-4A9E80C2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33700"/>
            <a:ext cx="28575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E110E-1B2A-4CE3-A576-4A3D8482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19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2. Factorise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96B98-DEC6-4B02-870D-41D1CC95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(u - 5)(u - 2)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 = 5 or u =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A7C46-F694-4234-AFC9-5D0EEA24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33700"/>
            <a:ext cx="28575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BC475-3C5A-4931-AB05-B95C9A27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3. Back to 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F6F4D3-A662-48E4-9A4D-4F1718BA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147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eˣ = 5 ⇒ x = ln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eˣ = 2 ⇒ x = ln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808EA0-59EF-48D3-A689-A424F291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57850"/>
            <a:ext cx="4572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D6B7B-EDDB-42CA-8136-BE0A7D53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800725"/>
            <a:ext cx="422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x = ln 2,  ln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C4825-C20B-4350-91C9-7B9CE61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274553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1620EA-A477-45AC-AE51-7754237B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128B9-A184-4AD9-8292-8DED34B5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7386A-AAAB-49AD-A47C-1CC52AE5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D9091-EEE1-4AD6-A630-C28529B1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AC890-D58D-4926-A8E0-E8B04225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Cubic Graphs from Three Linear Factors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09D7E-563B-4BDA-83E9-3190ACAC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3A3E6-8C3D-48E3-A84D-C1B6E0CC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Sketch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81C1A-CF89-484D-8083-7C6CB7DD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476750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543AE-E179-49AB-BBBF-E34963C6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Useful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E521A-6D9B-4762-9A8B-EF2057A6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619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CE963-2BFD-44DA-AC45-6CFAFDA2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f(x) = (x - a)(x - b)(x - c)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0E76C-97AD-40FC-B5E5-1ABDECCC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619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x-intercepts at x = a, b, c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y-intercept from x = 0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Positive leading coefficient: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  down on the left, up on the right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9707D-6F94-4A8B-ADF8-A3D53B7D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3619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BBC69-A94C-4A8E-811F-310A59DD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967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y = (x - 1)(x + 2)(x - 3)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e0c6abd154e15">
            <a:extLst>
              <a:ext uri="{96DAC541-7B7A-43D3-8B79-37D633B846F1}">
                <asvg:svgBlip xmlns:asvg="http://schemas.microsoft.com/office/drawing/2016/SVG/main" r:embed="R275194db36854a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53100" y="1790700"/>
            <a:ext cx="5334000" cy="3238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F2745-E91C-48C5-965D-07B9DC4E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53100"/>
            <a:ext cx="590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3F86C-4E81-4CC0-82E1-14AE0BB5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95975"/>
            <a:ext cx="556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Roots: -2, 1, 3     y-intercept: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CD28A-46D5-482F-BD2D-8433E396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97072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6DC907-E99F-4231-A284-9EA30AD5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D0BD1-E962-4690-8EAF-8B44EF7C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37F61-7D30-43A1-B1D2-649A30B9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BC8B3-8436-4685-9BB8-A259D976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23298-489C-4EA0-B65F-D786EBC6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Modulus of a Cubic and Cubic Inequalities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2A862-97A0-4A11-B717-FC7B9204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E2293-0C92-4935-A5F4-171230EF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Graph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2F130-0745-40C3-97D0-9128D1A6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6DB86-2B9B-496E-AB38-F181FC7E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Modulus of a cubic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E2CAF-FC4F-4456-B127-802A2524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4000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To sketch y = |f(x)|: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keep parts of f(x) above the x-axis</a:t>
            </a:r>
          </a:p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reflect parts below the x-axis upward</a:t>
            </a:r>
          </a:p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x-intercepts stay the same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1C422-3D12-4F04-949D-D2F132CD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EA48D-BAA7-458E-870E-ADFF5702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3467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f(x) = (x + 1)(x - 2)(x - 4)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54B72-8D64-49D4-9898-D4C6722B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F4664-9411-440E-A6CE-F30F20AB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Cubic inequality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22798-F9BC-42EA-82BD-BC75FD5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000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85243-7F18-43B5-8E20-A36BC494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14625"/>
            <a:ext cx="365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(x - 1)(x + 1)(x - 3) ≤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5F6CB-A745-41C2-922D-6FA50F80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4000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Roots: -1, 1,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 positive leading coefficient, signs alternate: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negative, positive, negative, positive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BB1EA-77EF-4A55-9FF9-8C5DE5E2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57850"/>
            <a:ext cx="49911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60121-EBC3-4940-8427-1562A314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800725"/>
            <a:ext cx="464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x ∈ (-∞, -1] ∪ [1, 3]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108E0-6852-49F8-9C16-9A8E5212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0483220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0561E-D67A-4368-A1E3-DF0E5D68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CF63B-DC9B-4B4C-9E63-24E5A2C4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C9627-C8B2-46F1-9580-EFB822A9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2B51A-6DF1-419F-95D7-01172324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AFF45-53B6-438C-A80D-A429F149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Quick Teacher Assessment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9ED19-3CB5-4BC3-A13F-02483ECD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C049E-0E14-432C-A5E5-3FBF06CC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Exit 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B364E-4C80-44DB-84E4-54446994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0101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54268-FB8B-4A52-B95D-8B93A6BE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Exit 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62211-0DD9-437E-9D72-977B4718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 Solve |x - 7|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 Solve |3x + 1| &lt;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3. What are the roots of (x - 2)(x + 1)(x - 5)?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4. State one feature of y = |f(x)| compared with y = f(x).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ED3D2-2F47-4A12-8F46-82DF695A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50101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9B268-E485-414D-B9F7-23B13587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35F7A-127B-4C79-8753-E68E504C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 x = 5, 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 -5/3 &lt; x &lt;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3. x = 2, -1,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4. Negative parts are reflected above the x-axis.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1FFA6-89B4-44B5-A2EC-7B89345B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57850"/>
            <a:ext cx="704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E7D84-46EF-4CA9-BEB6-231AA5E8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00725"/>
            <a:ext cx="6705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Use answers to decide support, consolidation, or challenge next.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0CECA-6B87-4BF4-B1B1-03ACCAA3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4447013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489CB5-B0EA-4598-B50C-48409FEA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6D24C-AE0E-40ED-BCE4-F48DD2A9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74966-DF7A-4102-A7F1-F699115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D1699-FE4F-4552-A11F-797845BC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BDA58-6AC6-40F7-93CD-00039E71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Student Worksheet Mini-Practice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D9A8C-B268-4094-BC90-D462A7A9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7F1C5-0E92-4C18-BD59-5485C195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Independent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8998B-E946-453F-BD5A-D9B2CBBE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1054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D4D8B-3336-46C5-B8CE-3A5871D6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3A3FE-5305-4D69-8C8F-990FE617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4229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 Solve |4x - 9| = 11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 Solve |2x + 3| = x + 8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3. Solve |x - 4| ≤ 6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4. Solve e²ˣ - 3eˣ - 4 = 0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5. If g(x) = (x - 2)(x + 1)(x - 4), state the x-intercepts.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6. Solve (x - 2)(x + 1)(x - 4) &gt;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E8360-58EE-4481-A139-1A83E21F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1054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CB367-695C-4A73-9CCF-FF78CFCE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812A6-A61F-493E-97F6-0338DD57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4095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 x = 5, -1/2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 x = 5, -5/3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3. -2 ≤ x ≤ 10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4. x = ln 4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5. x = 2, -1, 4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6. (-1, 2) ∪ (4, ∞)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22A14-3699-469C-B5C0-90E229CB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67400"/>
            <a:ext cx="899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Mark for method: case splitting, valid substitution, roots/intercepts, and correct interval notation.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68698-59B9-457D-8F9E-EDE94F31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484681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11954E-0220-4D02-8764-FD4BA47E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52C55-5DA3-4403-8DCC-5246BA05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Cambridge IGCSE Additional Mathematics 0606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0228F-93B5-44EC-85C0-145C451F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Topic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3D5A2-06E3-4CC3-847A-2D306835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25015-F5EC-48E3-9ACB-317AB43E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Marking Guidance and Differentiation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1913A-AB17-417A-BFE5-FB0990E8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600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1ABE8-03DD-4673-A3B1-23CFA3DB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Teacher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3E9F4-DF82-4978-9609-CFFFB65A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257550" cy="35242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48671-F5DD-4C10-8C87-B9BB1802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Credit for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80A3E-C9CA-4C26-A6C9-81A11EE7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2476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correct case splitting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accurate algebra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useful substitution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roots and intercepts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interval or union notation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checks where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7D47C-7557-4CC6-8526-757D0F1D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3257550" cy="35242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BA541-EF6F-410E-9B1D-C014D849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11AEE-F6FC-4F0D-A939-41562EC1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treating |A| as negative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giving one modulus answer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keeping invalid substitution roots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sketching without intercepts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confusing &lt; with 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31050-D9E0-48EF-90EF-197774D9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90700"/>
            <a:ext cx="3257550" cy="35242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B2C50-F219-4BE0-8FF8-5EB59048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Differentiation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BA91F-D266-48E7-86E0-87AE1B49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289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Support: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number lines, templates, marked roots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Challenge: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justify intervals, both-side modulus, non-zero cubic thresholds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F94E0-7027-40E3-8118-EE7309B3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67400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Keep the exam focus: method marks come from readable reasoning, not just final answers.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DD6B2-B2DD-48A4-850B-326ED1E7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7564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2026-05-31T03:51:50.0540000Z</dcterms:created>
  <dcterms:modified xsi:type="dcterms:W3CDTF">2026-05-31T03:51:50.0540000Z</dcterms:modified>
</coreProperties>
</file>